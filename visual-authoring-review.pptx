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It collapses the 'you're rebuilding Contentful' strawman before it's raised.
Say: "We're not building a CMS — we're buying one. The CMS owns content and its lifecycle. We only own rendering."
Then stop. Let them pick which side of the line to attack. Do not walk the bullets aloud — they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reasons on the slide: accuracy and cost. The other evidence stays in your pocket.
Reserve lines — deploy only if challenged:
· Mocking layer / routing &amp; analytics: "We don't mock the edge, we use the edge."
· Bus factor: "It doesn't disappear, it relocates. Their docs document their product, not our configuration of it. Ours is React and Next.js."
· Personalization: author toggles gamer vs. anonymous and sees the real render.
· Pricing/inventory staleness: CMS caches globally; authors build layouts around dead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6"/>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100" b="1" spc="200" kern="0" dirty="0">
                <a:solidFill>
                  <a:srgbClr val="7C8598"/>
                </a:solidFill>
                <a:latin typeface="Calibri" pitchFamily="34" charset="0"/>
                <a:ea typeface="Calibri" pitchFamily="34" charset="-122"/>
                <a:cs typeface="Calibri" pitchFamily="34" charset="-120"/>
              </a:rPr>
              <a:t>ARCHITECTURE REVIEW  ·  VISUAL AUTHORING PLATFORM</a:t>
            </a:r>
            <a:endParaRPr lang="en-US" sz="1100" dirty="0"/>
          </a:p>
        </p:txBody>
      </p:sp>
      <p:sp>
        <p:nvSpPr>
          <p:cNvPr id="3" name="Text 1"/>
          <p:cNvSpPr/>
          <p:nvPr/>
        </p:nvSpPr>
        <p:spPr>
          <a:xfrm>
            <a:off x="640080" y="822960"/>
            <a:ext cx="10881360" cy="1371600"/>
          </a:xfrm>
          <a:prstGeom prst="rect">
            <a:avLst/>
          </a:prstGeom>
          <a:noFill/>
          <a:ln/>
        </p:spPr>
        <p:txBody>
          <a:bodyPr wrap="square" lIns="0" tIns="0" rIns="0" bIns="0" rtlCol="0" anchor="ctr"/>
          <a:lstStyle/>
          <a:p>
            <a:pPr indent="0" marL="0">
              <a:lnSpc>
                <a:spcPts val="4600"/>
              </a:lnSpc>
              <a:buNone/>
            </a:pPr>
            <a:r>
              <a:rPr lang="en-US" sz="4200" b="1" dirty="0">
                <a:solidFill>
                  <a:srgbClr val="F4F3EF"/>
                </a:solidFill>
                <a:latin typeface="Cambria" pitchFamily="34" charset="0"/>
                <a:ea typeface="Cambria" pitchFamily="34" charset="-122"/>
                <a:cs typeface="Cambria" pitchFamily="34" charset="-120"/>
              </a:rPr>
              <a:t>We're not building a CMS.</a:t>
            </a:r>
            <a:endParaRPr lang="en-US" sz="4200" dirty="0"/>
          </a:p>
          <a:p>
            <a:pPr indent="0" marL="0">
              <a:lnSpc>
                <a:spcPts val="4600"/>
              </a:lnSpc>
              <a:buNone/>
            </a:pPr>
            <a:r>
              <a:rPr lang="en-US" sz="4200" b="1" dirty="0">
                <a:solidFill>
                  <a:srgbClr val="FF5A5F"/>
                </a:solidFill>
                <a:latin typeface="Cambria" pitchFamily="34" charset="0"/>
                <a:ea typeface="Cambria" pitchFamily="34" charset="-122"/>
                <a:cs typeface="Cambria" pitchFamily="34" charset="-120"/>
              </a:rPr>
              <a:t>We're buying one.</a:t>
            </a:r>
            <a:endParaRPr lang="en-US" sz="4200" dirty="0"/>
          </a:p>
        </p:txBody>
      </p:sp>
      <p:sp>
        <p:nvSpPr>
          <p:cNvPr id="4" name="Shape 2"/>
          <p:cNvSpPr/>
          <p:nvPr/>
        </p:nvSpPr>
        <p:spPr>
          <a:xfrm>
            <a:off x="640080" y="2514600"/>
            <a:ext cx="5257800" cy="2971800"/>
          </a:xfrm>
          <a:prstGeom prst="roundRect">
            <a:avLst>
              <a:gd name="adj" fmla="val 3077"/>
            </a:avLst>
          </a:prstGeom>
          <a:solidFill>
            <a:srgbClr val="22252E"/>
          </a:solidFill>
          <a:ln w="12700">
            <a:solidFill>
              <a:srgbClr val="22252E"/>
            </a:solidFill>
            <a:prstDash val="solid"/>
          </a:ln>
        </p:spPr>
      </p:sp>
      <p:sp>
        <p:nvSpPr>
          <p:cNvPr id="5" name="Text 3"/>
          <p:cNvSpPr/>
          <p:nvPr/>
        </p:nvSpPr>
        <p:spPr>
          <a:xfrm>
            <a:off x="960120" y="2788920"/>
            <a:ext cx="4617720" cy="228600"/>
          </a:xfrm>
          <a:prstGeom prst="rect">
            <a:avLst/>
          </a:prstGeom>
          <a:noFill/>
          <a:ln/>
        </p:spPr>
        <p:txBody>
          <a:bodyPr wrap="square" lIns="0" tIns="0" rIns="0" bIns="0" rtlCol="0" anchor="ctr"/>
          <a:lstStyle/>
          <a:p>
            <a:pPr indent="0" marL="0">
              <a:buNone/>
            </a:pPr>
            <a:r>
              <a:rPr lang="en-US" sz="1100" b="1" spc="150" kern="0" dirty="0">
                <a:solidFill>
                  <a:srgbClr val="7C8598"/>
                </a:solidFill>
                <a:latin typeface="Calibri" pitchFamily="34" charset="0"/>
                <a:ea typeface="Calibri" pitchFamily="34" charset="-122"/>
                <a:cs typeface="Calibri" pitchFamily="34" charset="-120"/>
              </a:rPr>
              <a:t>WHAT WE BUY</a:t>
            </a:r>
            <a:endParaRPr lang="en-US" sz="1100" dirty="0"/>
          </a:p>
        </p:txBody>
      </p:sp>
      <p:sp>
        <p:nvSpPr>
          <p:cNvPr id="6" name="Text 4"/>
          <p:cNvSpPr/>
          <p:nvPr/>
        </p:nvSpPr>
        <p:spPr>
          <a:xfrm>
            <a:off x="960120" y="3090672"/>
            <a:ext cx="4617720" cy="365760"/>
          </a:xfrm>
          <a:prstGeom prst="rect">
            <a:avLst/>
          </a:prstGeom>
          <a:noFill/>
          <a:ln/>
        </p:spPr>
        <p:txBody>
          <a:bodyPr wrap="square" lIns="0" tIns="0" rIns="0" bIns="0" rtlCol="0" anchor="ctr"/>
          <a:lstStyle/>
          <a:p>
            <a:pPr indent="0" marL="0">
              <a:buNone/>
            </a:pPr>
            <a:r>
              <a:rPr lang="en-US" sz="2100" b="1" dirty="0">
                <a:solidFill>
                  <a:srgbClr val="F4F3EF"/>
                </a:solidFill>
                <a:latin typeface="Cambria" pitchFamily="34" charset="0"/>
                <a:ea typeface="Cambria" pitchFamily="34" charset="-122"/>
                <a:cs typeface="Cambria" pitchFamily="34" charset="-120"/>
              </a:rPr>
              <a:t>Content &amp; its lifecycle</a:t>
            </a:r>
            <a:endParaRPr lang="en-US" sz="2100" dirty="0"/>
          </a:p>
        </p:txBody>
      </p:sp>
      <p:sp>
        <p:nvSpPr>
          <p:cNvPr id="7" name="Text 5"/>
          <p:cNvSpPr/>
          <p:nvPr/>
        </p:nvSpPr>
        <p:spPr>
          <a:xfrm>
            <a:off x="1051560" y="3611880"/>
            <a:ext cx="452628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Approval workflows</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Localization across markets</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Scheduled publishing</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Version history &amp; rollback</a:t>
            </a:r>
            <a:endParaRPr lang="en-US" sz="1400" dirty="0"/>
          </a:p>
        </p:txBody>
      </p:sp>
      <p:sp>
        <p:nvSpPr>
          <p:cNvPr id="8" name="Text 6"/>
          <p:cNvSpPr/>
          <p:nvPr/>
        </p:nvSpPr>
        <p:spPr>
          <a:xfrm>
            <a:off x="960120" y="4983480"/>
            <a:ext cx="4617720" cy="274320"/>
          </a:xfrm>
          <a:prstGeom prst="rect">
            <a:avLst/>
          </a:prstGeom>
          <a:noFill/>
          <a:ln/>
        </p:spPr>
        <p:txBody>
          <a:bodyPr wrap="square" lIns="0" tIns="0" rIns="0" bIns="0" rtlCol="0" anchor="ctr"/>
          <a:lstStyle/>
          <a:p>
            <a:pPr indent="0" marL="0">
              <a:buNone/>
            </a:pPr>
            <a:r>
              <a:rPr lang="en-US" sz="1200" i="1" dirty="0">
                <a:solidFill>
                  <a:srgbClr val="7C8598"/>
                </a:solidFill>
                <a:latin typeface="Calibri" pitchFamily="34" charset="0"/>
                <a:ea typeface="Calibri" pitchFamily="34" charset="-122"/>
                <a:cs typeface="Calibri" pitchFamily="34" charset="-120"/>
              </a:rPr>
              <a:t>Off the shelf. Day one. Zero engineering.</a:t>
            </a:r>
            <a:endParaRPr lang="en-US" sz="1200" dirty="0"/>
          </a:p>
        </p:txBody>
      </p:sp>
      <p:sp>
        <p:nvSpPr>
          <p:cNvPr id="9" name="Shape 7"/>
          <p:cNvSpPr/>
          <p:nvPr/>
        </p:nvSpPr>
        <p:spPr>
          <a:xfrm>
            <a:off x="6263640" y="2514600"/>
            <a:ext cx="5257800" cy="2971800"/>
          </a:xfrm>
          <a:prstGeom prst="roundRect">
            <a:avLst>
              <a:gd name="adj" fmla="val 3077"/>
            </a:avLst>
          </a:prstGeom>
          <a:solidFill>
            <a:srgbClr val="2E2328"/>
          </a:solidFill>
          <a:ln w="12700">
            <a:solidFill>
              <a:srgbClr val="2E2328"/>
            </a:solidFill>
            <a:prstDash val="solid"/>
          </a:ln>
        </p:spPr>
      </p:sp>
      <p:sp>
        <p:nvSpPr>
          <p:cNvPr id="10" name="Text 8"/>
          <p:cNvSpPr/>
          <p:nvPr/>
        </p:nvSpPr>
        <p:spPr>
          <a:xfrm>
            <a:off x="6583680" y="2788920"/>
            <a:ext cx="4617720" cy="228600"/>
          </a:xfrm>
          <a:prstGeom prst="rect">
            <a:avLst/>
          </a:prstGeom>
          <a:noFill/>
          <a:ln/>
        </p:spPr>
        <p:txBody>
          <a:bodyPr wrap="square" lIns="0" tIns="0" rIns="0" bIns="0" rtlCol="0" anchor="ctr"/>
          <a:lstStyle/>
          <a:p>
            <a:pPr indent="0" marL="0">
              <a:buNone/>
            </a:pPr>
            <a:r>
              <a:rPr lang="en-US" sz="1100" b="1" spc="150" kern="0" dirty="0">
                <a:solidFill>
                  <a:srgbClr val="FF5A5F"/>
                </a:solidFill>
                <a:latin typeface="Calibri" pitchFamily="34" charset="0"/>
                <a:ea typeface="Calibri" pitchFamily="34" charset="-122"/>
                <a:cs typeface="Calibri" pitchFamily="34" charset="-120"/>
              </a:rPr>
              <a:t>WHAT WE BUILD</a:t>
            </a:r>
            <a:endParaRPr lang="en-US" sz="1100" dirty="0"/>
          </a:p>
        </p:txBody>
      </p:sp>
      <p:sp>
        <p:nvSpPr>
          <p:cNvPr id="11" name="Text 9"/>
          <p:cNvSpPr/>
          <p:nvPr/>
        </p:nvSpPr>
        <p:spPr>
          <a:xfrm>
            <a:off x="6583680" y="3090672"/>
            <a:ext cx="4617720" cy="365760"/>
          </a:xfrm>
          <a:prstGeom prst="rect">
            <a:avLst/>
          </a:prstGeom>
          <a:noFill/>
          <a:ln/>
        </p:spPr>
        <p:txBody>
          <a:bodyPr wrap="square" lIns="0" tIns="0" rIns="0" bIns="0" rtlCol="0" anchor="ctr"/>
          <a:lstStyle/>
          <a:p>
            <a:pPr indent="0" marL="0">
              <a:buNone/>
            </a:pPr>
            <a:r>
              <a:rPr lang="en-US" sz="2100" b="1" dirty="0">
                <a:solidFill>
                  <a:srgbClr val="F4F3EF"/>
                </a:solidFill>
                <a:latin typeface="Cambria" pitchFamily="34" charset="0"/>
                <a:ea typeface="Cambria" pitchFamily="34" charset="-122"/>
                <a:cs typeface="Cambria" pitchFamily="34" charset="-120"/>
              </a:rPr>
              <a:t>Rendering</a:t>
            </a:r>
            <a:endParaRPr lang="en-US" sz="2100" dirty="0"/>
          </a:p>
        </p:txBody>
      </p:sp>
      <p:sp>
        <p:nvSpPr>
          <p:cNvPr id="12" name="Text 10"/>
          <p:cNvSpPr/>
          <p:nvPr/>
        </p:nvSpPr>
        <p:spPr>
          <a:xfrm>
            <a:off x="6675120" y="3611880"/>
            <a:ext cx="452628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Same components as production</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Bound to live inventory &amp; pricing</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Real personalization context</a:t>
            </a:r>
            <a:endParaRPr lang="en-US" sz="1400" dirty="0"/>
          </a:p>
          <a:p>
            <a:pPr marL="342900" indent="-342900">
              <a:spcAft>
                <a:spcPts val="600"/>
              </a:spcAft>
              <a:buSzPct val="100000"/>
              <a:buChar char="•"/>
            </a:pPr>
            <a:r>
              <a:rPr lang="en-US" sz="1400" dirty="0">
                <a:solidFill>
                  <a:srgbClr val="C9CDD6"/>
                </a:solidFill>
                <a:latin typeface="Calibri" pitchFamily="34" charset="0"/>
                <a:ea typeface="Calibri" pitchFamily="34" charset="-122"/>
                <a:cs typeface="Calibri" pitchFamily="34" charset="-120"/>
              </a:rPr>
              <a:t>What you see is what ships</a:t>
            </a:r>
            <a:endParaRPr lang="en-US" sz="1400" dirty="0"/>
          </a:p>
        </p:txBody>
      </p:sp>
      <p:sp>
        <p:nvSpPr>
          <p:cNvPr id="13" name="Text 11"/>
          <p:cNvSpPr/>
          <p:nvPr/>
        </p:nvSpPr>
        <p:spPr>
          <a:xfrm>
            <a:off x="6583680" y="4983480"/>
            <a:ext cx="4617720" cy="274320"/>
          </a:xfrm>
          <a:prstGeom prst="rect">
            <a:avLst/>
          </a:prstGeom>
          <a:noFill/>
          <a:ln/>
        </p:spPr>
        <p:txBody>
          <a:bodyPr wrap="square" lIns="0" tIns="0" rIns="0" bIns="0" rtlCol="0" anchor="ctr"/>
          <a:lstStyle/>
          <a:p>
            <a:pPr indent="0" marL="0">
              <a:buNone/>
            </a:pPr>
            <a:r>
              <a:rPr lang="en-US" sz="1200" i="1" dirty="0">
                <a:solidFill>
                  <a:srgbClr val="7C8598"/>
                </a:solidFill>
                <a:latin typeface="Calibri" pitchFamily="34" charset="0"/>
                <a:ea typeface="Calibri" pitchFamily="34" charset="-122"/>
                <a:cs typeface="Calibri" pitchFamily="34" charset="-120"/>
              </a:rPr>
              <a:t>The one thing a CMS structurally can't do.</a:t>
            </a:r>
            <a:endParaRPr lang="en-US" sz="1200" dirty="0"/>
          </a:p>
        </p:txBody>
      </p:sp>
      <p:sp>
        <p:nvSpPr>
          <p:cNvPr id="14" name="Text 12"/>
          <p:cNvSpPr/>
          <p:nvPr/>
        </p:nvSpPr>
        <p:spPr>
          <a:xfrm>
            <a:off x="640080" y="5852160"/>
            <a:ext cx="10881360" cy="411480"/>
          </a:xfrm>
          <a:prstGeom prst="rect">
            <a:avLst/>
          </a:prstGeom>
          <a:noFill/>
          <a:ln/>
        </p:spPr>
        <p:txBody>
          <a:bodyPr wrap="square" lIns="0" tIns="0" rIns="0" bIns="0" rtlCol="0" anchor="ctr"/>
          <a:lstStyle/>
          <a:p>
            <a:pPr algn="ctr" indent="0" marL="0">
              <a:buNone/>
            </a:pPr>
            <a:r>
              <a:rPr lang="en-US" sz="2000" b="1" dirty="0">
                <a:solidFill>
                  <a:srgbClr val="F4F3EF"/>
                </a:solidFill>
                <a:latin typeface="Cambria" pitchFamily="34" charset="0"/>
                <a:ea typeface="Cambria" pitchFamily="34" charset="-122"/>
                <a:cs typeface="Cambria" pitchFamily="34" charset="-120"/>
              </a:rPr>
              <a:t>They own content lifecycle.  We own rendering.</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6"/>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lIns="0" tIns="0" rIns="0" bIns="0" rtlCol="0" anchor="ctr"/>
          <a:lstStyle/>
          <a:p>
            <a:pPr indent="0" marL="0">
              <a:buNone/>
            </a:pPr>
            <a:r>
              <a:rPr lang="en-US" sz="1100" b="1" spc="200" kern="0" dirty="0">
                <a:solidFill>
                  <a:srgbClr val="7C8598"/>
                </a:solidFill>
                <a:latin typeface="Calibri" pitchFamily="34" charset="0"/>
                <a:ea typeface="Calibri" pitchFamily="34" charset="-122"/>
                <a:cs typeface="Calibri" pitchFamily="34" charset="-120"/>
              </a:rPr>
              <a:t>WHY THE LINE SITS THERE</a:t>
            </a:r>
            <a:endParaRPr lang="en-US" sz="110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indent="0" marL="0">
              <a:buNone/>
            </a:pPr>
            <a:r>
              <a:rPr lang="en-US" sz="4000" b="1" dirty="0">
                <a:solidFill>
                  <a:srgbClr val="F4F3EF"/>
                </a:solidFill>
                <a:latin typeface="Cambria" pitchFamily="34" charset="0"/>
                <a:ea typeface="Cambria" pitchFamily="34" charset="-122"/>
                <a:cs typeface="Cambria" pitchFamily="34" charset="-120"/>
              </a:rPr>
              <a:t>A CMS can only preview </a:t>
            </a:r>
            <a:pPr indent="0" marL="0">
              <a:buNone/>
            </a:pPr>
            <a:r>
              <a:rPr lang="en-US" sz="4000" b="1" dirty="0">
                <a:solidFill>
                  <a:srgbClr val="FF5A5F"/>
                </a:solidFill>
                <a:latin typeface="Cambria" pitchFamily="34" charset="0"/>
                <a:ea typeface="Cambria" pitchFamily="34" charset="-122"/>
                <a:cs typeface="Cambria" pitchFamily="34" charset="-120"/>
              </a:rPr>
              <a:t>content it owns.</a:t>
            </a:r>
            <a:endParaRPr lang="en-US" sz="4000" dirty="0"/>
          </a:p>
        </p:txBody>
      </p:sp>
      <p:sp>
        <p:nvSpPr>
          <p:cNvPr id="4" name="Shape 2"/>
          <p:cNvSpPr/>
          <p:nvPr/>
        </p:nvSpPr>
        <p:spPr>
          <a:xfrm>
            <a:off x="640080" y="2148840"/>
            <a:ext cx="502920" cy="502920"/>
          </a:xfrm>
          <a:prstGeom prst="ellipse">
            <a:avLst/>
          </a:prstGeom>
          <a:solidFill>
            <a:srgbClr val="FF5A5F"/>
          </a:solidFill>
          <a:ln w="12700">
            <a:solidFill>
              <a:srgbClr val="FF5A5F"/>
            </a:solidFill>
            <a:prstDash val="solid"/>
          </a:ln>
        </p:spPr>
      </p:sp>
      <p:sp>
        <p:nvSpPr>
          <p:cNvPr id="5" name="Text 3"/>
          <p:cNvSpPr/>
          <p:nvPr/>
        </p:nvSpPr>
        <p:spPr>
          <a:xfrm>
            <a:off x="640080" y="2148840"/>
            <a:ext cx="502920" cy="502920"/>
          </a:xfrm>
          <a:prstGeom prst="rect">
            <a:avLst/>
          </a:prstGeom>
          <a:noFill/>
          <a:ln/>
        </p:spPr>
        <p:txBody>
          <a:bodyPr wrap="square" lIns="0" tIns="0" rIns="0" bIns="0" rtlCol="0" anchor="ctr"/>
          <a:lstStyle/>
          <a:p>
            <a:pPr algn="ctr" indent="0" marL="0">
              <a:buNone/>
            </a:pPr>
            <a:r>
              <a:rPr lang="en-US" sz="1500" b="1" dirty="0">
                <a:solidFill>
                  <a:srgbClr val="1A1D26"/>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1417320" y="2167128"/>
            <a:ext cx="9966960" cy="365760"/>
          </a:xfrm>
          <a:prstGeom prst="rect">
            <a:avLst/>
          </a:prstGeom>
          <a:noFill/>
          <a:ln/>
        </p:spPr>
        <p:txBody>
          <a:bodyPr wrap="square" lIns="0" tIns="0" rIns="0" bIns="0" rtlCol="0" anchor="ctr"/>
          <a:lstStyle/>
          <a:p>
            <a:pPr indent="0" marL="0">
              <a:buNone/>
            </a:pPr>
            <a:r>
              <a:rPr lang="en-US" sz="1800" b="1" dirty="0">
                <a:solidFill>
                  <a:srgbClr val="F4F3EF"/>
                </a:solidFill>
                <a:latin typeface="Calibri" pitchFamily="34" charset="0"/>
                <a:ea typeface="Calibri" pitchFamily="34" charset="-122"/>
                <a:cs typeface="Calibri" pitchFamily="34" charset="-120"/>
              </a:rPr>
              <a:t>It can't preview live state.</a:t>
            </a:r>
            <a:endParaRPr lang="en-US" sz="1800" dirty="0"/>
          </a:p>
        </p:txBody>
      </p:sp>
      <p:sp>
        <p:nvSpPr>
          <p:cNvPr id="7" name="Text 5"/>
          <p:cNvSpPr/>
          <p:nvPr/>
        </p:nvSpPr>
        <p:spPr>
          <a:xfrm>
            <a:off x="1417320" y="2606040"/>
            <a:ext cx="9966960" cy="777240"/>
          </a:xfrm>
          <a:prstGeom prst="rect">
            <a:avLst/>
          </a:prstGeom>
          <a:noFill/>
          <a:ln/>
        </p:spPr>
        <p:txBody>
          <a:bodyPr wrap="square" lIns="0" tIns="0" rIns="0" bIns="0" rtlCol="0" anchor="ctr"/>
          <a:lstStyle/>
          <a:p>
            <a:pPr indent="0" marL="0">
              <a:lnSpc>
                <a:spcPts val="2200"/>
              </a:lnSpc>
              <a:buNone/>
            </a:pPr>
            <a:r>
              <a:rPr lang="en-US" sz="1450" dirty="0">
                <a:solidFill>
                  <a:srgbClr val="C9CDD6"/>
                </a:solidFill>
                <a:latin typeface="Calibri" pitchFamily="34" charset="0"/>
                <a:ea typeface="Calibri" pitchFamily="34" charset="-122"/>
                <a:cs typeface="Calibri" pitchFamily="34" charset="-120"/>
              </a:rPr>
              <a:t>An author drops a product grid. The CMS renders an empty box — it can't reach our inventory. They publish. In production the layout breaks around a real out-of-stock item they never saw.</a:t>
            </a:r>
            <a:endParaRPr lang="en-US" sz="1450" dirty="0"/>
          </a:p>
        </p:txBody>
      </p:sp>
      <p:sp>
        <p:nvSpPr>
          <p:cNvPr id="8" name="Shape 6"/>
          <p:cNvSpPr/>
          <p:nvPr/>
        </p:nvSpPr>
        <p:spPr>
          <a:xfrm>
            <a:off x="640080" y="3840480"/>
            <a:ext cx="502920" cy="502920"/>
          </a:xfrm>
          <a:prstGeom prst="ellipse">
            <a:avLst/>
          </a:prstGeom>
          <a:solidFill>
            <a:srgbClr val="FF5A5F"/>
          </a:solidFill>
          <a:ln w="12700">
            <a:solidFill>
              <a:srgbClr val="FF5A5F"/>
            </a:solidFill>
            <a:prstDash val="solid"/>
          </a:ln>
        </p:spPr>
      </p:sp>
      <p:sp>
        <p:nvSpPr>
          <p:cNvPr id="9" name="Text 7"/>
          <p:cNvSpPr/>
          <p:nvPr/>
        </p:nvSpPr>
        <p:spPr>
          <a:xfrm>
            <a:off x="640080" y="3840480"/>
            <a:ext cx="502920" cy="502920"/>
          </a:xfrm>
          <a:prstGeom prst="rect">
            <a:avLst/>
          </a:prstGeom>
          <a:noFill/>
          <a:ln/>
        </p:spPr>
        <p:txBody>
          <a:bodyPr wrap="square" lIns="0" tIns="0" rIns="0" bIns="0" rtlCol="0" anchor="ctr"/>
          <a:lstStyle/>
          <a:p>
            <a:pPr algn="ctr" indent="0" marL="0">
              <a:buNone/>
            </a:pPr>
            <a:r>
              <a:rPr lang="en-US" sz="1500" b="1" dirty="0">
                <a:solidFill>
                  <a:srgbClr val="1A1D26"/>
                </a:solidFill>
                <a:latin typeface="Calibri" pitchFamily="34" charset="0"/>
                <a:ea typeface="Calibri" pitchFamily="34" charset="-122"/>
                <a:cs typeface="Calibri" pitchFamily="34" charset="-120"/>
              </a:rPr>
              <a:t>02</a:t>
            </a:r>
            <a:endParaRPr lang="en-US" sz="1500" dirty="0"/>
          </a:p>
        </p:txBody>
      </p:sp>
      <p:sp>
        <p:nvSpPr>
          <p:cNvPr id="10" name="Text 8"/>
          <p:cNvSpPr/>
          <p:nvPr/>
        </p:nvSpPr>
        <p:spPr>
          <a:xfrm>
            <a:off x="1417320" y="3858768"/>
            <a:ext cx="9966960" cy="365760"/>
          </a:xfrm>
          <a:prstGeom prst="rect">
            <a:avLst/>
          </a:prstGeom>
          <a:noFill/>
          <a:ln/>
        </p:spPr>
        <p:txBody>
          <a:bodyPr wrap="square" lIns="0" tIns="0" rIns="0" bIns="0" rtlCol="0" anchor="ctr"/>
          <a:lstStyle/>
          <a:p>
            <a:pPr indent="0" marL="0">
              <a:buNone/>
            </a:pPr>
            <a:r>
              <a:rPr lang="en-US" sz="1800" b="1" dirty="0">
                <a:solidFill>
                  <a:srgbClr val="F4F3EF"/>
                </a:solidFill>
                <a:latin typeface="Calibri" pitchFamily="34" charset="0"/>
                <a:ea typeface="Calibri" pitchFamily="34" charset="-122"/>
                <a:cs typeface="Calibri" pitchFamily="34" charset="-120"/>
              </a:rPr>
              <a:t>Wiring their canvas to our backend doesn't remove the work. It doubles it.</a:t>
            </a:r>
            <a:endParaRPr lang="en-US" sz="1800" dirty="0"/>
          </a:p>
        </p:txBody>
      </p:sp>
      <p:sp>
        <p:nvSpPr>
          <p:cNvPr id="11" name="Text 9"/>
          <p:cNvSpPr/>
          <p:nvPr/>
        </p:nvSpPr>
        <p:spPr>
          <a:xfrm>
            <a:off x="1417320" y="4297680"/>
            <a:ext cx="9966960" cy="777240"/>
          </a:xfrm>
          <a:prstGeom prst="rect">
            <a:avLst/>
          </a:prstGeom>
          <a:noFill/>
          <a:ln/>
        </p:spPr>
        <p:txBody>
          <a:bodyPr wrap="square" lIns="0" tIns="0" rIns="0" bIns="0" rtlCol="0" anchor="ctr"/>
          <a:lstStyle/>
          <a:p>
            <a:pPr indent="0" marL="0">
              <a:lnSpc>
                <a:spcPts val="2200"/>
              </a:lnSpc>
              <a:buNone/>
            </a:pPr>
            <a:r>
              <a:rPr lang="en-US" sz="1450" dirty="0">
                <a:solidFill>
                  <a:srgbClr val="C9CDD6"/>
                </a:solidFill>
                <a:latin typeface="Calibri" pitchFamily="34" charset="0"/>
                <a:ea typeface="Calibri" pitchFamily="34" charset="-122"/>
                <a:cs typeface="Calibri" pitchFamily="34" charset="-120"/>
              </a:rPr>
              <a:t>Every component exists twice — the production one, plus a mirrored wrapper in their proprietary schema. That's not integration cost you pay once. It's a tax on every release.</a:t>
            </a:r>
            <a:endParaRPr lang="en-US" sz="1450" dirty="0"/>
          </a:p>
        </p:txBody>
      </p:sp>
      <p:sp>
        <p:nvSpPr>
          <p:cNvPr id="12" name="Text 10"/>
          <p:cNvSpPr/>
          <p:nvPr/>
        </p:nvSpPr>
        <p:spPr>
          <a:xfrm>
            <a:off x="640080" y="5852160"/>
            <a:ext cx="10881360" cy="411480"/>
          </a:xfrm>
          <a:prstGeom prst="rect">
            <a:avLst/>
          </a:prstGeom>
          <a:noFill/>
          <a:ln/>
        </p:spPr>
        <p:txBody>
          <a:bodyPr wrap="square" lIns="0" tIns="0" rIns="0" bIns="0" rtlCol="0" anchor="ctr"/>
          <a:lstStyle/>
          <a:p>
            <a:pPr algn="ctr" indent="0" marL="0">
              <a:buNone/>
            </a:pPr>
            <a:r>
              <a:rPr lang="en-US" sz="2000" b="1" dirty="0">
                <a:solidFill>
                  <a:srgbClr val="F4F3EF"/>
                </a:solidFill>
                <a:latin typeface="Cambria" pitchFamily="34" charset="0"/>
                <a:ea typeface="Cambria" pitchFamily="34" charset="-122"/>
                <a:cs typeface="Cambria" pitchFamily="34" charset="-120"/>
              </a:rPr>
              <a:t>We're not a competitor to Contentful. </a:t>
            </a:r>
            <a:pPr algn="ctr" indent="0" marL="0">
              <a:buNone/>
            </a:pPr>
            <a:r>
              <a:rPr lang="en-US" sz="2000" b="1" dirty="0">
                <a:solidFill>
                  <a:srgbClr val="FF5A5F"/>
                </a:solidFill>
                <a:latin typeface="Cambria" pitchFamily="34" charset="0"/>
                <a:ea typeface="Cambria" pitchFamily="34" charset="-122"/>
                <a:cs typeface="Cambria" pitchFamily="34" charset="-120"/>
              </a:rPr>
              <a:t>We're the viewport that makes it work for commerce.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2026-07-15T06:18:42Z</dcterms:created>
  <dcterms:modified xsi:type="dcterms:W3CDTF">2026-07-15T06:18:42Z</dcterms:modified>
</cp:coreProperties>
</file>