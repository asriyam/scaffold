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8301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ContentStack + CMX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ContentStack covers standard CMS operations. CMX covers authoring and preview with transactional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F5F6F7"/>
          </a:solidFill>
          <a:ln w="9525">
            <a:solidFill>
              <a:srgbClr val="D2D2D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184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572768"/>
            <a:ext cx="4562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</a:t>
            </a: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ContentStack (commercial CMS)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4672" y="2104764"/>
            <a:ext cx="64008" cy="64008"/>
          </a:xfrm>
          <a:prstGeom prst="ellipse">
            <a:avLst/>
          </a:prstGeom>
          <a:solidFill>
            <a:srgbClr val="0672CB"/>
          </a:solidFill>
          <a:ln/>
        </p:spPr>
      </p:sp>
      <p:sp>
        <p:nvSpPr>
          <p:cNvPr id="8" name="Text 5"/>
          <p:cNvSpPr/>
          <p:nvPr/>
        </p:nvSpPr>
        <p:spPr>
          <a:xfrm>
            <a:off x="1024128" y="1999608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 &amp; version management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4672" y="2443092"/>
            <a:ext cx="64008" cy="64008"/>
          </a:xfrm>
          <a:prstGeom prst="ellipse">
            <a:avLst/>
          </a:prstGeom>
          <a:solidFill>
            <a:srgbClr val="0672CB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2337936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publishing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4672" y="2781420"/>
            <a:ext cx="64008" cy="64008"/>
          </a:xfrm>
          <a:prstGeom prst="ellipse">
            <a:avLst/>
          </a:prstGeom>
          <a:solidFill>
            <a:srgbClr val="0672CB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2676264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4672" y="3119748"/>
            <a:ext cx="64008" cy="64008"/>
          </a:xfrm>
          <a:prstGeom prst="ellipse">
            <a:avLst/>
          </a:prstGeom>
          <a:solidFill>
            <a:srgbClr val="0672CB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301459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49808" y="33467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off the shelf; no engineering effort required.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54496" y="1371600"/>
            <a:ext cx="5477256" cy="2377440"/>
          </a:xfrm>
          <a:prstGeom prst="roundRect">
            <a:avLst>
              <a:gd name="adj" fmla="val 2308"/>
            </a:avLst>
          </a:prstGeom>
          <a:solidFill>
            <a:srgbClr val="EAF3FB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161848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12864" y="1572768"/>
            <a:ext cx="4562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IN-HOUSE</a:t>
            </a: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CMX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601968" y="2104764"/>
            <a:ext cx="64008" cy="64008"/>
          </a:xfrm>
          <a:prstGeom prst="ellipse">
            <a:avLst/>
          </a:prstGeom>
          <a:solidFill>
            <a:srgbClr val="0672CB"/>
          </a:solidFill>
          <a:ln/>
        </p:spPr>
      </p:sp>
      <p:sp>
        <p:nvSpPr>
          <p:cNvPr id="20" name="Text 16"/>
          <p:cNvSpPr/>
          <p:nvPr/>
        </p:nvSpPr>
        <p:spPr>
          <a:xfrm>
            <a:off x="6821424" y="1999608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authoring &amp; preview with live transactional data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601968" y="2443092"/>
            <a:ext cx="64008" cy="64008"/>
          </a:xfrm>
          <a:prstGeom prst="ellipse">
            <a:avLst/>
          </a:prstGeom>
          <a:solidFill>
            <a:srgbClr val="0672CB"/>
          </a:solidFill>
          <a:ln/>
        </p:spPr>
      </p:sp>
      <p:sp>
        <p:nvSpPr>
          <p:cNvPr id="22" name="Text 18"/>
          <p:cNvSpPr/>
          <p:nvPr/>
        </p:nvSpPr>
        <p:spPr>
          <a:xfrm>
            <a:off x="6821424" y="2337936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 between authoring and production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601968" y="2781420"/>
            <a:ext cx="64008" cy="64008"/>
          </a:xfrm>
          <a:prstGeom prst="ellipse">
            <a:avLst/>
          </a:prstGeom>
          <a:solidFill>
            <a:srgbClr val="0672CB"/>
          </a:solidFill>
          <a:ln/>
        </p:spPr>
      </p:sp>
      <p:sp>
        <p:nvSpPr>
          <p:cNvPr id="24" name="Text 20"/>
          <p:cNvSpPr/>
          <p:nvPr/>
        </p:nvSpPr>
        <p:spPr>
          <a:xfrm>
            <a:off x="6821424" y="2676264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context available in preview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601968" y="3119748"/>
            <a:ext cx="64008" cy="64008"/>
          </a:xfrm>
          <a:prstGeom prst="ellipse">
            <a:avLst/>
          </a:prstGeom>
          <a:solidFill>
            <a:srgbClr val="0672CB"/>
          </a:solidFill>
          <a:ln/>
        </p:spPr>
      </p:sp>
      <p:sp>
        <p:nvSpPr>
          <p:cNvPr id="26" name="Text 22"/>
          <p:cNvSpPr/>
          <p:nvPr/>
        </p:nvSpPr>
        <p:spPr>
          <a:xfrm>
            <a:off x="6821424" y="301459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output matches the published page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547104" y="33467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authoring preview of transactional state and runtime rendering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7200" y="4023360"/>
            <a:ext cx="354482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279392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115568" y="4206240"/>
            <a:ext cx="267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CMX?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731520" y="4773168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CMS can preview only the content it stores; live transactional state is outside its scope. CMX renders merchandising and transactional data in preview, so pricing mismatches, layout breaks and context errors surface before live.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322064" y="4023360"/>
            <a:ext cx="354482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8096" y="4279392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980432" y="4206240"/>
            <a:ext cx="267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customize ContentStack?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4596384" y="4773168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transactional preview to ContentStack requires double-writes and separate authoring and runtime components, which drift apart over releases. CMX uses one component library for both, keeping preview and production consistent.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8186928" y="4023360"/>
            <a:ext cx="354482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960" y="4279392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845296" y="4206240"/>
            <a:ext cx="267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bus factor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8461248" y="4773168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CMS-specific customization relies on proprietary APIs; vendors document their product, not the customization. CMX is standard React and Next.js, maintainable by any front-end engineer, so the knowledge stays within the team.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scope: ContentStack handles standard CMS operations; CMX handles preview and rendering with transactional data.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228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Srikanthan Krishnamachari</cp:lastModifiedBy>
  <cp:revision>2</cp:revision>
  <dcterms:created xsi:type="dcterms:W3CDTF">2026-07-15T07:40:51Z</dcterms:created>
  <dcterms:modified xsi:type="dcterms:W3CDTF">2026-07-15T07:47:12Z</dcterms:modified>
</cp:coreProperties>
</file>